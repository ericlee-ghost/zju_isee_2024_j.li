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61" r:id="rId4"/>
    <p:sldId id="262" r:id="rId5"/>
    <p:sldId id="263" r:id="rId6"/>
    <p:sldId id="265" r:id="rId7"/>
    <p:sldId id="268" r:id="rId8"/>
    <p:sldId id="269" r:id="rId9"/>
    <p:sldId id="271" r:id="rId10"/>
    <p:sldId id="274" r:id="rId12"/>
    <p:sldId id="281" r:id="rId13"/>
    <p:sldId id="275" r:id="rId14"/>
    <p:sldId id="280" r:id="rId15"/>
    <p:sldId id="279" r:id="rId16"/>
    <p:sldId id="273" r:id="rId17"/>
    <p:sldId id="277" r:id="rId18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33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5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4416" y="0"/>
                </a:cxn>
                <a:cxn ang="0">
                  <a:pos x="4917" y="500"/>
                </a:cxn>
                <a:cxn ang="0">
                  <a:pos x="4417" y="1000"/>
                </a:cxn>
                <a:cxn ang="0">
                  <a:pos x="0" y="1000"/>
                </a:cxn>
              </a:cxnLst>
              <a:rect l="T0" t="T1" r="T2" b="T3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</p:grpSp>
      <p:pic>
        <p:nvPicPr>
          <p:cNvPr id="9" name="Picture 12" descr="浙江大学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9" y="188915"/>
            <a:ext cx="1042987" cy="103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427165"/>
            <a:ext cx="8077200" cy="1609725"/>
          </a:xfrm>
        </p:spPr>
        <p:txBody>
          <a:bodyPr/>
          <a:lstStyle>
            <a:lvl1pPr>
              <a:defRPr sz="34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7373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71488"/>
          </a:xfrm>
        </p:spPr>
        <p:txBody>
          <a:bodyPr/>
          <a:lstStyle>
            <a:lvl1pPr>
              <a:defRPr smtClean="0"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3163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71488"/>
          </a:xfrm>
        </p:spPr>
        <p:txBody>
          <a:bodyPr/>
          <a:lstStyle>
            <a:lvl1pPr>
              <a:defRPr smtClean="0"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4" y="228600"/>
            <a:ext cx="2084387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4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求是鸟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51" y="188913"/>
            <a:ext cx="75565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3" name="Group 3"/>
          <p:cNvGrpSpPr/>
          <p:nvPr/>
        </p:nvGrpSpPr>
        <p:grpSpPr bwMode="auto">
          <a:xfrm>
            <a:off x="0" y="152400"/>
            <a:ext cx="8686800" cy="6096000"/>
            <a:chOff x="0" y="96"/>
            <a:chExt cx="5472" cy="3840"/>
          </a:xfrm>
        </p:grpSpPr>
        <p:sp>
          <p:nvSpPr>
            <p:cNvPr id="72708" name="AutoShape 4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09" name="AutoShape 5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G4 w 1000"/>
                <a:gd name="T3" fmla="*/ G1 h 1000"/>
              </a:gdLst>
              <a:ahLst/>
              <a:cxnLst>
                <a:cxn ang="0">
                  <a:pos x="0" y="0"/>
                </a:cxn>
                <a:cxn ang="0">
                  <a:pos x="6499" y="0"/>
                </a:cxn>
                <a:cxn ang="0">
                  <a:pos x="7000" y="500"/>
                </a:cxn>
                <a:cxn ang="0">
                  <a:pos x="6500" y="1000"/>
                </a:cxn>
                <a:cxn ang="0">
                  <a:pos x="0" y="1000"/>
                </a:cxn>
              </a:cxnLst>
              <a:rect l="T0" t="T1" r="T2" b="T3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10" name="Line 6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</p:grpSp>
      <p:sp>
        <p:nvSpPr>
          <p:cNvPr id="5124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195264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5125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7271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7271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271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900" smtClean="0"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tags" Target="../tags/tag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4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tags" Target="../tags/tag12.xml"/><Relationship Id="rId7" Type="http://schemas.openxmlformats.org/officeDocument/2006/relationships/image" Target="../media/image34.png"/><Relationship Id="rId6" Type="http://schemas.openxmlformats.org/officeDocument/2006/relationships/tags" Target="../tags/tag11.xml"/><Relationship Id="rId5" Type="http://schemas.openxmlformats.org/officeDocument/2006/relationships/image" Target="../media/image33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18.xml"/><Relationship Id="rId7" Type="http://schemas.openxmlformats.org/officeDocument/2006/relationships/image" Target="../media/image41.png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image" Target="../media/image40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46.png"/><Relationship Id="rId16" Type="http://schemas.openxmlformats.org/officeDocument/2006/relationships/tags" Target="../tags/tag22.xml"/><Relationship Id="rId15" Type="http://schemas.openxmlformats.org/officeDocument/2006/relationships/image" Target="../media/image45.png"/><Relationship Id="rId14" Type="http://schemas.openxmlformats.org/officeDocument/2006/relationships/tags" Target="../tags/tag21.xml"/><Relationship Id="rId13" Type="http://schemas.openxmlformats.org/officeDocument/2006/relationships/image" Target="../media/image44.png"/><Relationship Id="rId12" Type="http://schemas.openxmlformats.org/officeDocument/2006/relationships/tags" Target="../tags/tag20.xml"/><Relationship Id="rId11" Type="http://schemas.openxmlformats.org/officeDocument/2006/relationships/image" Target="../media/image43.png"/><Relationship Id="rId10" Type="http://schemas.openxmlformats.org/officeDocument/2006/relationships/tags" Target="../tags/tag19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tags" Target="../tags/tag2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tags" Target="../tags/tag2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tags" Target="../tags/tag27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0.png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tags" Target="../tags/tag29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image" Target="../media/image6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器件和封装的确定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1517650"/>
            <a:ext cx="8096250" cy="195389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41985" y="3719195"/>
            <a:ext cx="79343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en-US" sz="1600" b="1"/>
              <a:t>设计电路时，先确定器件类型，然后通过嘉立创</a:t>
            </a:r>
            <a:r>
              <a:rPr lang="en-US" altLang="zh-CN" sz="1600" b="1">
                <a:sym typeface="+mn-ea"/>
              </a:rPr>
              <a:t>EDA</a:t>
            </a:r>
            <a:r>
              <a:rPr lang="zh-CN" altLang="en-US" sz="1600" b="1">
                <a:sym typeface="+mn-ea"/>
              </a:rPr>
              <a:t>或立场</a:t>
            </a:r>
            <a:r>
              <a:rPr lang="zh-CN" altLang="en-US" sz="1600" b="1"/>
              <a:t>商城，结合器件照片，封装图，</a:t>
            </a:r>
            <a:r>
              <a:rPr lang="en-US" altLang="zh-CN" sz="1600" b="1"/>
              <a:t>3D</a:t>
            </a:r>
            <a:r>
              <a:rPr lang="zh-CN" altLang="en-US" sz="1600" b="1"/>
              <a:t>模型等，选择合适的器件放置设计。</a:t>
            </a:r>
            <a:endParaRPr lang="zh-CN" altLang="en-US" sz="1600" b="1"/>
          </a:p>
          <a:p>
            <a:pPr>
              <a:lnSpc>
                <a:spcPct val="150000"/>
              </a:lnSpc>
            </a:pPr>
            <a:r>
              <a:rPr lang="en-US" altLang="zh-CN" sz="1600" b="1"/>
              <a:t>        </a:t>
            </a:r>
            <a:r>
              <a:rPr lang="zh-CN" altLang="en-US" sz="1600" b="1"/>
              <a:t>一些器件的选择推荐如下：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95" y="1346200"/>
            <a:ext cx="7736205" cy="4695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60" y="4286885"/>
            <a:ext cx="7969885" cy="1828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45" y="1174750"/>
            <a:ext cx="3294380" cy="3004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放置器件（电阻）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34365" y="1859280"/>
            <a:ext cx="1564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/>
              <a:t>一般电阻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0" y="1496060"/>
            <a:ext cx="3950970" cy="12973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300" y="2987040"/>
            <a:ext cx="3856990" cy="13354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5000" y="3352800"/>
            <a:ext cx="1456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/>
              <a:t>负载电阻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490" y="4646295"/>
            <a:ext cx="3888740" cy="13404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34365" y="4812030"/>
            <a:ext cx="1894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/>
              <a:t>采样电阻</a:t>
            </a:r>
            <a:endParaRPr lang="zh-CN" altLang="en-US"/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/>
              <a:t>（统一用100mΩ）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370" y="1534795"/>
            <a:ext cx="1726565" cy="12198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370" y="4672330"/>
            <a:ext cx="1694180" cy="1378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放置器件（电容）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46430" y="1859280"/>
            <a:ext cx="1564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瓷片电容（</a:t>
            </a:r>
            <a:r>
              <a:rPr lang="en-US" altLang="zh-CN" dirty="0" smtClean="0">
                <a:sym typeface="+mn-ea"/>
              </a:rPr>
              <a:t>1uF</a:t>
            </a:r>
            <a:r>
              <a:rPr lang="zh-CN" altLang="en-US" dirty="0">
                <a:sym typeface="+mn-ea"/>
              </a:rPr>
              <a:t>以下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47065" y="3352800"/>
            <a:ext cx="1840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电解电容（</a:t>
            </a:r>
            <a:r>
              <a:rPr lang="en-US" altLang="zh-CN" dirty="0" smtClean="0">
                <a:sym typeface="+mn-ea"/>
              </a:rPr>
              <a:t>1uF</a:t>
            </a:r>
            <a:r>
              <a:rPr lang="zh-CN" altLang="en-US" dirty="0" smtClean="0">
                <a:sym typeface="+mn-ea"/>
              </a:rPr>
              <a:t>以上）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6430" y="4812030"/>
            <a:ext cx="16960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/>
              <a:t>大电解电容</a:t>
            </a:r>
            <a:endParaRPr lang="zh-CN" altLang="en-US"/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 dirty="0" smtClean="0">
                <a:sym typeface="+mn-ea"/>
              </a:rPr>
              <a:t>（</a:t>
            </a:r>
            <a:r>
              <a:rPr lang="en-US" altLang="zh-CN" dirty="0" smtClean="0">
                <a:sym typeface="+mn-ea"/>
              </a:rPr>
              <a:t>100uF</a:t>
            </a:r>
            <a:r>
              <a:rPr lang="zh-CN" altLang="en-US" dirty="0" smtClean="0">
                <a:sym typeface="+mn-ea"/>
              </a:rPr>
              <a:t>以上）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920" y="1465580"/>
            <a:ext cx="4823460" cy="1432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920" y="3126105"/>
            <a:ext cx="4975860" cy="1371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920" y="4643755"/>
            <a:ext cx="4221480" cy="1409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820" y="1412240"/>
            <a:ext cx="1363345" cy="14008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185" y="3049905"/>
            <a:ext cx="1397000" cy="14395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6565" y="4641215"/>
            <a:ext cx="1422400" cy="1461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放置器件（二三极管）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57225" y="1859280"/>
            <a:ext cx="1785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发光二极管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7860" y="3352800"/>
            <a:ext cx="1840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/>
              <a:t>整流二极管</a:t>
            </a:r>
            <a:endParaRPr lang="zh-CN"/>
          </a:p>
          <a:p>
            <a:pPr indent="0" algn="l" fontAlgn="t">
              <a:buFont typeface="Wingdings" panose="05000000000000000000" charset="0"/>
              <a:buNone/>
            </a:pPr>
            <a:r>
              <a:rPr lang="en-US" altLang="zh-CN"/>
              <a:t>IN4007</a:t>
            </a:r>
            <a:r>
              <a:rPr lang="zh-CN" altLang="en-US"/>
              <a:t>等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065" y="1526540"/>
            <a:ext cx="3918585" cy="13004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065" y="3107690"/>
            <a:ext cx="3917315" cy="1317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1475105"/>
            <a:ext cx="1375410" cy="14166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937510"/>
            <a:ext cx="1466850" cy="154432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62940" y="485140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三极管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2070" y="4631055"/>
            <a:ext cx="1294765" cy="11722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6205" y="4481830"/>
            <a:ext cx="2484120" cy="8096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6205" y="5320030"/>
            <a:ext cx="2386330" cy="7480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0840" y="4575175"/>
            <a:ext cx="1160780" cy="8020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5377180"/>
            <a:ext cx="1160780" cy="92456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282825" y="7848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放置器件（接插件）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43890" y="2219960"/>
            <a:ext cx="1785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排针间距</a:t>
            </a:r>
            <a:r>
              <a:rPr lang="en-US" altLang="zh-CN" dirty="0" smtClean="0">
                <a:sym typeface="+mn-ea"/>
              </a:rPr>
              <a:t>2.54mm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43890" y="3737610"/>
            <a:ext cx="184086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/>
              <a:t>电源、功率负载接口</a:t>
            </a:r>
            <a:r>
              <a:rPr lang="en-US" altLang="zh-CN"/>
              <a:t>,</a:t>
            </a:r>
            <a:r>
              <a:rPr lang="zh-CN" altLang="en-US"/>
              <a:t>间距</a:t>
            </a:r>
            <a:r>
              <a:rPr lang="en-US" altLang="zh-CN"/>
              <a:t>3.81</a:t>
            </a:r>
            <a:r>
              <a:rPr lang="en-US" altLang="zh-CN"/>
              <a:t>mm</a:t>
            </a:r>
            <a:endParaRPr lang="en-US" altLang="zh-CN"/>
          </a:p>
          <a:p>
            <a:pPr indent="0" algn="l" fontAlgn="t">
              <a:buFont typeface="Wingdings" panose="05000000000000000000" charset="0"/>
              <a:buNone/>
            </a:pPr>
            <a:endParaRPr lang="en-US" altLang="zh-CN"/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/>
              <a:t>单电源（</a:t>
            </a:r>
            <a:r>
              <a:rPr lang="en-US" altLang="zh-CN"/>
              <a:t>2</a:t>
            </a:r>
            <a:r>
              <a:rPr lang="zh-CN" altLang="en-US"/>
              <a:t>端口）</a:t>
            </a:r>
            <a:endParaRPr lang="zh-CN" altLang="en-US"/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/>
              <a:t>双电源（</a:t>
            </a:r>
            <a:r>
              <a:rPr lang="en-US" altLang="zh-CN"/>
              <a:t>3</a:t>
            </a:r>
            <a:r>
              <a:rPr lang="zh-CN" altLang="en-US"/>
              <a:t>端口）</a:t>
            </a:r>
            <a:endParaRPr lang="zh-CN" altLang="en-US"/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/>
              <a:t>自定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730" y="2037080"/>
            <a:ext cx="3991610" cy="13423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0565" y="1418590"/>
            <a:ext cx="7751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光电传感器，蓝牙模块等通过杜邦线与电路上的排针相连，排针规格如下，个数，针脚自定：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560" y="2037080"/>
            <a:ext cx="1332230" cy="13855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730" y="3485515"/>
            <a:ext cx="3607435" cy="12528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560" y="4081780"/>
            <a:ext cx="1706880" cy="13411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8730" y="4844415"/>
            <a:ext cx="3606800" cy="1250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035" y="4660265"/>
            <a:ext cx="4152265" cy="13315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放置器件（场效应管）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01040" y="1827530"/>
            <a:ext cx="1841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 altLang="zh-CN" dirty="0" smtClean="0">
                <a:sym typeface="+mn-ea"/>
              </a:rPr>
              <a:t>N</a:t>
            </a:r>
            <a:r>
              <a:rPr lang="zh-CN" altLang="en-US" dirty="0" smtClean="0">
                <a:sym typeface="+mn-ea"/>
              </a:rPr>
              <a:t>沟道小功率</a:t>
            </a:r>
            <a:r>
              <a:rPr lang="en-US" altLang="zh-CN" dirty="0" smtClean="0">
                <a:sym typeface="+mn-ea"/>
              </a:rPr>
              <a:t>mos</a:t>
            </a:r>
            <a:r>
              <a:rPr lang="zh-CN" altLang="en-US" dirty="0" smtClean="0">
                <a:sym typeface="+mn-ea"/>
              </a:rPr>
              <a:t>管，如</a:t>
            </a:r>
            <a:r>
              <a:rPr lang="en-US" altLang="zh-CN" dirty="0" smtClean="0">
                <a:sym typeface="+mn-ea"/>
              </a:rPr>
              <a:t>AO3400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1675" y="3321050"/>
            <a:ext cx="1840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 altLang="zh-CN" dirty="0" smtClean="0">
                <a:sym typeface="+mn-ea"/>
              </a:rPr>
              <a:t>N</a:t>
            </a:r>
            <a:r>
              <a:rPr lang="zh-CN" altLang="en-US" dirty="0" smtClean="0">
                <a:sym typeface="+mn-ea"/>
              </a:rPr>
              <a:t>沟道中功率</a:t>
            </a:r>
            <a:r>
              <a:rPr lang="en-US" altLang="zh-CN" dirty="0" smtClean="0">
                <a:sym typeface="+mn-ea"/>
              </a:rPr>
              <a:t>mos</a:t>
            </a:r>
            <a:r>
              <a:rPr lang="zh-CN" altLang="en-US" dirty="0" smtClean="0">
                <a:sym typeface="+mn-ea"/>
              </a:rPr>
              <a:t>管，如</a:t>
            </a:r>
            <a:r>
              <a:rPr lang="en-US" altLang="zh-CN" dirty="0" smtClean="0">
                <a:sym typeface="+mn-ea"/>
              </a:rPr>
              <a:t>AO</a:t>
            </a:r>
            <a:r>
              <a:rPr lang="en-US" altLang="zh-CN" dirty="0" smtClean="0">
                <a:sym typeface="+mn-ea"/>
              </a:rPr>
              <a:t>D4144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01040" y="4597400"/>
            <a:ext cx="16960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 altLang="zh-CN" dirty="0" smtClean="0">
                <a:sym typeface="+mn-ea"/>
              </a:rPr>
              <a:t>N</a:t>
            </a:r>
            <a:r>
              <a:rPr lang="zh-CN" altLang="en-US" dirty="0" smtClean="0">
                <a:sym typeface="+mn-ea"/>
              </a:rPr>
              <a:t>沟道大功率</a:t>
            </a:r>
            <a:r>
              <a:rPr lang="en-US" altLang="zh-CN" dirty="0" smtClean="0">
                <a:sym typeface="+mn-ea"/>
              </a:rPr>
              <a:t>mos</a:t>
            </a:r>
            <a:r>
              <a:rPr lang="zh-CN" altLang="en-US" dirty="0" smtClean="0">
                <a:sym typeface="+mn-ea"/>
              </a:rPr>
              <a:t>管，如</a:t>
            </a:r>
            <a:r>
              <a:rPr lang="en-US" altLang="zh-CN" dirty="0" smtClean="0">
                <a:sym typeface="+mn-ea"/>
              </a:rPr>
              <a:t>IRF9540</a:t>
            </a:r>
            <a:endParaRPr lang="en-US" altLang="zh-CN" dirty="0" smtClean="0">
              <a:sym typeface="+mn-ea"/>
            </a:endParaRPr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/>
              <a:t>（需加散热器）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78405" y="1733550"/>
            <a:ext cx="4187190" cy="11931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29070" y="1511300"/>
            <a:ext cx="1475105" cy="15328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541135" y="3064510"/>
            <a:ext cx="1476375" cy="15214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4910" y="3176905"/>
            <a:ext cx="2585720" cy="11010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2520" y="3238500"/>
            <a:ext cx="1668780" cy="10058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325" y="3064510"/>
            <a:ext cx="1534160" cy="7575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3210" y="4660265"/>
            <a:ext cx="1413510" cy="1425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42540" y="1583690"/>
            <a:ext cx="4088765" cy="13284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放置器件（场效应管）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01040" y="1827530"/>
            <a:ext cx="1841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 altLang="zh-CN" dirty="0" smtClean="0">
                <a:sym typeface="+mn-ea"/>
              </a:rPr>
              <a:t>P</a:t>
            </a:r>
            <a:r>
              <a:rPr lang="zh-CN" altLang="en-US" dirty="0" smtClean="0">
                <a:sym typeface="+mn-ea"/>
              </a:rPr>
              <a:t>沟道小功率</a:t>
            </a:r>
            <a:r>
              <a:rPr lang="en-US" altLang="zh-CN" dirty="0" smtClean="0">
                <a:sym typeface="+mn-ea"/>
              </a:rPr>
              <a:t>mos</a:t>
            </a:r>
            <a:r>
              <a:rPr lang="zh-CN" altLang="en-US" dirty="0" smtClean="0">
                <a:sym typeface="+mn-ea"/>
              </a:rPr>
              <a:t>管，如</a:t>
            </a:r>
            <a:r>
              <a:rPr lang="en-US" altLang="zh-CN" dirty="0" smtClean="0">
                <a:sym typeface="+mn-ea"/>
              </a:rPr>
              <a:t>AO3401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701675" y="3321050"/>
            <a:ext cx="1840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 altLang="zh-CN" dirty="0" smtClean="0">
                <a:sym typeface="+mn-ea"/>
              </a:rPr>
              <a:t>P</a:t>
            </a:r>
            <a:r>
              <a:rPr lang="zh-CN" altLang="en-US" dirty="0" smtClean="0">
                <a:sym typeface="+mn-ea"/>
              </a:rPr>
              <a:t>沟道中功率</a:t>
            </a:r>
            <a:r>
              <a:rPr lang="en-US" altLang="zh-CN" dirty="0" smtClean="0">
                <a:sym typeface="+mn-ea"/>
              </a:rPr>
              <a:t>mos</a:t>
            </a:r>
            <a:r>
              <a:rPr lang="zh-CN" altLang="en-US" dirty="0" smtClean="0">
                <a:sym typeface="+mn-ea"/>
              </a:rPr>
              <a:t>管，如</a:t>
            </a:r>
            <a:r>
              <a:rPr lang="en-US" altLang="zh-CN" dirty="0" smtClean="0">
                <a:sym typeface="+mn-ea"/>
              </a:rPr>
              <a:t>AO</a:t>
            </a:r>
            <a:r>
              <a:rPr lang="en-US" altLang="zh-CN" dirty="0" smtClean="0">
                <a:sym typeface="+mn-ea"/>
              </a:rPr>
              <a:t>D403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01040" y="4597400"/>
            <a:ext cx="16960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 altLang="zh-CN" dirty="0" smtClean="0">
                <a:sym typeface="+mn-ea"/>
              </a:rPr>
              <a:t>P</a:t>
            </a:r>
            <a:r>
              <a:rPr lang="zh-CN" altLang="en-US" dirty="0" smtClean="0">
                <a:sym typeface="+mn-ea"/>
              </a:rPr>
              <a:t>沟道大功率</a:t>
            </a:r>
            <a:r>
              <a:rPr lang="en-US" altLang="zh-CN" dirty="0" smtClean="0">
                <a:sym typeface="+mn-ea"/>
              </a:rPr>
              <a:t>mos</a:t>
            </a:r>
            <a:r>
              <a:rPr lang="zh-CN" altLang="en-US" dirty="0" smtClean="0">
                <a:sym typeface="+mn-ea"/>
              </a:rPr>
              <a:t>管，如</a:t>
            </a:r>
            <a:r>
              <a:rPr lang="en-US" altLang="zh-CN" dirty="0" smtClean="0">
                <a:sym typeface="+mn-ea"/>
              </a:rPr>
              <a:t>IRF9540</a:t>
            </a:r>
            <a:endParaRPr lang="en-US" altLang="zh-CN" dirty="0" smtClean="0">
              <a:sym typeface="+mn-ea"/>
            </a:endParaRPr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/>
              <a:t>（需加散热器）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5880" y="4615815"/>
            <a:ext cx="4382770" cy="13201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534785" y="4626610"/>
            <a:ext cx="1503045" cy="15576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631940" y="1580515"/>
            <a:ext cx="1439545" cy="14541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631940" y="2283460"/>
            <a:ext cx="730885" cy="7562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628130" y="3030855"/>
            <a:ext cx="1416050" cy="14484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513330" y="3061335"/>
            <a:ext cx="4117975" cy="1325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放置器件（电源芯片）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50240" y="3271520"/>
            <a:ext cx="1841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稳压器</a:t>
            </a:r>
            <a:r>
              <a:rPr lang="en-US" altLang="zh-CN" dirty="0" smtClean="0">
                <a:sym typeface="+mn-ea"/>
              </a:rPr>
              <a:t>7805</a:t>
            </a:r>
            <a:endParaRPr lang="en-US" altLang="zh-CN" dirty="0" smtClean="0">
              <a:sym typeface="+mn-ea"/>
            </a:endParaRPr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同上需加散热器安装）</a:t>
            </a:r>
            <a:endParaRPr lang="en-US" altLang="zh-CN" dirty="0" smtClean="0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0875" y="4879340"/>
            <a:ext cx="1840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 altLang="zh-CN"/>
              <a:t>3.3V</a:t>
            </a:r>
            <a:r>
              <a:rPr lang="zh-CN" altLang="en-US"/>
              <a:t>，</a:t>
            </a:r>
            <a:r>
              <a:rPr lang="en-US" altLang="zh-CN"/>
              <a:t>5V</a:t>
            </a:r>
            <a:endParaRPr lang="en-US" altLang="zh-CN"/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/>
              <a:t>电源</a:t>
            </a:r>
            <a:r>
              <a:rPr lang="en-US" altLang="zh-CN"/>
              <a:t>ASM1117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165" y="3095625"/>
            <a:ext cx="4283075" cy="1273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330" y="4646295"/>
            <a:ext cx="4305300" cy="13258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330" y="1616075"/>
            <a:ext cx="4284345" cy="136842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50875" y="1839595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散热器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1630" y="1438275"/>
            <a:ext cx="1494790" cy="15462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525" y="3037840"/>
            <a:ext cx="1445895" cy="1489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0525" y="4580255"/>
            <a:ext cx="1502410" cy="1529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62940" y="185928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蜂鸣器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30" y="1543050"/>
            <a:ext cx="4488180" cy="13728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330" y="3024505"/>
            <a:ext cx="3975100" cy="142176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662940" y="331470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电感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2940" y="4754245"/>
            <a:ext cx="1696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dirty="0" smtClean="0">
                <a:sym typeface="+mn-ea"/>
              </a:rPr>
              <a:t>继电器</a:t>
            </a:r>
            <a:endParaRPr 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8615" y="1414145"/>
            <a:ext cx="1451610" cy="15144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610" y="2963545"/>
            <a:ext cx="1491615" cy="15144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610" y="4525645"/>
            <a:ext cx="1515745" cy="15614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6330" y="4719320"/>
            <a:ext cx="1409700" cy="12998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7950" y="4536440"/>
            <a:ext cx="2618740" cy="7702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7950" y="5306695"/>
            <a:ext cx="2512695" cy="907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62940" y="1859280"/>
            <a:ext cx="1841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编码器</a:t>
            </a:r>
            <a:endParaRPr lang="zh-CN" altLang="en-US" dirty="0" smtClean="0">
              <a:sym typeface="+mn-ea"/>
            </a:endParaRPr>
          </a:p>
        </p:txBody>
      </p:sp>
      <p:pic>
        <p:nvPicPr>
          <p:cNvPr id="12" name="图片 11" descr="upload_post_object_v2_17264045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967" y="1509432"/>
            <a:ext cx="4591050" cy="1419225"/>
          </a:xfrm>
          <a:prstGeom prst="rect">
            <a:avLst/>
          </a:prstGeom>
        </p:spPr>
      </p:pic>
      <p:pic>
        <p:nvPicPr>
          <p:cNvPr id="14" name="图片 13" descr="upload_post_object_v2_2084267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545" y="1356360"/>
            <a:ext cx="1898015" cy="1532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7225" y="3273425"/>
            <a:ext cx="1696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/>
              <a:t>按键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255" y="3025140"/>
            <a:ext cx="4427220" cy="13982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2928620"/>
            <a:ext cx="1604010" cy="169354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607695" y="4828540"/>
            <a:ext cx="1841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 dirty="0" smtClean="0">
                <a:sym typeface="+mn-ea"/>
              </a:rPr>
              <a:t>温度</a:t>
            </a:r>
            <a:br>
              <a:rPr lang="zh-CN" altLang="en-US" dirty="0" smtClean="0">
                <a:sym typeface="+mn-ea"/>
              </a:rPr>
            </a:br>
            <a:r>
              <a:rPr lang="zh-CN" altLang="en-US" dirty="0" smtClean="0">
                <a:sym typeface="+mn-ea"/>
              </a:rPr>
              <a:t>传感</a:t>
            </a:r>
            <a:endParaRPr lang="zh-CN" altLang="en-US" dirty="0" smtClean="0">
              <a:sym typeface="+mn-ea"/>
            </a:endParaRPr>
          </a:p>
          <a:p>
            <a:pPr indent="0" algn="l" fontAlgn="t">
              <a:buFont typeface="Wingdings" panose="05000000000000000000" charset="0"/>
              <a:buNone/>
            </a:pPr>
            <a:r>
              <a:rPr lang="en-US" altLang="zh-CN" dirty="0" smtClean="0">
                <a:sym typeface="+mn-ea"/>
              </a:rPr>
              <a:t>    LM35</a:t>
            </a:r>
            <a:endParaRPr lang="en-US" altLang="zh-CN" dirty="0" smtClean="0">
              <a:sym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0255" y="4622165"/>
            <a:ext cx="1409065" cy="13589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4890" y="4675505"/>
            <a:ext cx="2734945" cy="101092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4622165"/>
            <a:ext cx="1663700" cy="14471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900" y="2881630"/>
            <a:ext cx="4495800" cy="1447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34390" y="1644650"/>
            <a:ext cx="7626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t">
              <a:buFont typeface="Wingdings" panose="05000000000000000000" charset="0"/>
              <a:buNone/>
            </a:pPr>
            <a:r>
              <a:rPr lang="zh-CN" altLang="en-US" b="1"/>
              <a:t>另外一些芯片等器件，可参看</a:t>
            </a:r>
            <a:r>
              <a:rPr lang="en-US" altLang="zh-CN" b="1"/>
              <a:t>datasheet</a:t>
            </a:r>
            <a:r>
              <a:rPr lang="zh-CN" altLang="en-US" b="1"/>
              <a:t>文件夹</a:t>
            </a:r>
            <a:endParaRPr lang="zh-CN" altLang="en-US" b="1"/>
          </a:p>
          <a:p>
            <a:pPr indent="0" algn="l" fontAlgn="t">
              <a:buFont typeface="Wingdings" panose="05000000000000000000" charset="0"/>
              <a:buNone/>
            </a:pPr>
            <a:r>
              <a:rPr lang="zh-CN" altLang="en-US" b="1"/>
              <a:t>根据型号搜索，芯片选用</a:t>
            </a:r>
            <a:r>
              <a:rPr lang="zh-CN" altLang="en-US" b="1">
                <a:solidFill>
                  <a:srgbClr val="FF0000"/>
                </a:solidFill>
              </a:rPr>
              <a:t>贴片</a:t>
            </a:r>
            <a:r>
              <a:rPr lang="zh-CN" altLang="en-US" b="1"/>
              <a:t>封装，如：</a:t>
            </a:r>
            <a:endParaRPr lang="zh-CN" altLang="en-US" b="1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31825" y="3352800"/>
            <a:ext cx="1840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en-US"/>
              <a:t>LM358</a:t>
            </a:r>
            <a:endParaRPr lang="en-US"/>
          </a:p>
        </p:txBody>
      </p:sp>
      <p:sp>
        <p:nvSpPr>
          <p:cNvPr id="9" name="文本框 8"/>
          <p:cNvSpPr txBox="1"/>
          <p:nvPr/>
        </p:nvSpPr>
        <p:spPr>
          <a:xfrm>
            <a:off x="631190" y="4812030"/>
            <a:ext cx="1696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t">
              <a:buFont typeface="Wingdings" panose="05000000000000000000" charset="0"/>
              <a:buChar char="u"/>
            </a:pPr>
            <a:r>
              <a:rPr lang="zh-CN" altLang="en-US"/>
              <a:t>显示屏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185" y="4488815"/>
            <a:ext cx="5043805" cy="1554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360" y="408305"/>
            <a:ext cx="2242185" cy="25488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540" y="2881630"/>
            <a:ext cx="1485900" cy="14998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4402455"/>
            <a:ext cx="1680210" cy="16903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放置器件</a:t>
            </a:r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34390" y="1536065"/>
            <a:ext cx="42297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t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b="1"/>
              <a:t>STM32</a:t>
            </a:r>
            <a:r>
              <a:rPr lang="zh-CN" altLang="en-US" b="1"/>
              <a:t>核心板的元件库可用右图群文件，</a:t>
            </a:r>
            <a:endParaRPr lang="zh-CN" altLang="en-US" b="1"/>
          </a:p>
          <a:p>
            <a:pPr indent="0" algn="l" fontAlgn="t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b="1"/>
              <a:t>在嘉立创</a:t>
            </a:r>
            <a:r>
              <a:rPr lang="en-US" altLang="zh-CN" b="1"/>
              <a:t>EDA</a:t>
            </a:r>
            <a:r>
              <a:rPr lang="zh-CN" altLang="en-US" b="1"/>
              <a:t>中，选择</a:t>
            </a:r>
            <a:r>
              <a:rPr lang="en-US" altLang="zh-CN" b="1"/>
              <a:t> “</a:t>
            </a:r>
            <a:r>
              <a:rPr lang="zh-CN" altLang="en-US" b="1"/>
              <a:t>文件</a:t>
            </a:r>
            <a:r>
              <a:rPr lang="en-US" altLang="zh-CN" b="1"/>
              <a:t>-</a:t>
            </a:r>
            <a:r>
              <a:rPr lang="zh-CN" altLang="en-US" b="1"/>
              <a:t>导入</a:t>
            </a:r>
            <a:r>
              <a:rPr lang="en-US" altLang="zh-CN" b="1"/>
              <a:t>-</a:t>
            </a:r>
            <a:r>
              <a:rPr lang="zh-CN" altLang="en-US" b="1"/>
              <a:t>嘉立创专业版</a:t>
            </a:r>
            <a:r>
              <a:rPr lang="en-US" altLang="zh-CN" b="1"/>
              <a:t>”</a:t>
            </a:r>
            <a:r>
              <a:rPr lang="zh-CN" altLang="en-US" b="1"/>
              <a:t>，提取库文件后可在库中找到。</a:t>
            </a:r>
            <a:endParaRPr lang="en-US" altLang="zh-CN" b="1"/>
          </a:p>
          <a:p>
            <a:pPr indent="0" algn="l" fontAlgn="t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715" y="1499235"/>
            <a:ext cx="2994660" cy="31013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265" y="3094355"/>
            <a:ext cx="3783965" cy="27089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265" y="4489450"/>
            <a:ext cx="1855470" cy="14801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1.3,&quot;left&quot;:65.7,&quot;top&quot;:146.4,&quot;width&quot;:465.8}"/>
</p:tagLst>
</file>

<file path=ppt/tags/tag2.xml><?xml version="1.0" encoding="utf-8"?>
<p:tagLst xmlns:p="http://schemas.openxmlformats.org/presentationml/2006/main">
  <p:tag name="KSO_WM_DIAGRAM_VIRTUALLY_FRAME" val="{&quot;height&quot;:201.3,&quot;left&quot;:65.7,&quot;top&quot;:146.4,&quot;width&quot;:465.8}"/>
</p:tagLst>
</file>

<file path=ppt/tags/tag3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4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5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6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7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8.xml><?xml version="1.0" encoding="utf-8"?>
<p:tagLst xmlns:p="http://schemas.openxmlformats.org/presentationml/2006/main">
  <p:tag name="KSO_WM_DIAGRAM_VIRTUALLY_FRAME" val="{&quot;height&quot;:242.6,&quot;left&quot;:55.2,&quot;top&quot;:118.5,&quot;width&quot;:576.1}"/>
</p:tagLst>
</file>

<file path=ppt/tags/tag9.xml><?xml version="1.0" encoding="utf-8"?>
<p:tagLst xmlns:p="http://schemas.openxmlformats.org/presentationml/2006/main">
  <p:tag name="KSO_WM_DIAGRAM_VIRTUALLY_FRAME" val="{&quot;height&quot;:242.6,&quot;left&quot;:55.2,&quot;top&quot;:118.5,&quot;width&quot;:576.1}"/>
</p:tagLst>
</file>

<file path=ppt/tags/tag10.xml><?xml version="1.0" encoding="utf-8"?>
<p:tagLst xmlns:p="http://schemas.openxmlformats.org/presentationml/2006/main">
  <p:tag name="KSO_WM_DIAGRAM_VIRTUALLY_FRAME" val="{&quot;height&quot;:242.6,&quot;left&quot;:55.2,&quot;top&quot;:118.5,&quot;width&quot;:576.1}"/>
</p:tagLst>
</file>

<file path=ppt/tags/tag11.xml><?xml version="1.0" encoding="utf-8"?>
<p:tagLst xmlns:p="http://schemas.openxmlformats.org/presentationml/2006/main">
  <p:tag name="KSO_WM_DIAGRAM_VIRTUALLY_FRAME" val="{&quot;height&quot;:242.6,&quot;left&quot;:55.2,&quot;top&quot;:118.5,&quot;width&quot;:576.1}"/>
</p:tagLst>
</file>

<file path=ppt/tags/tag12.xml><?xml version="1.0" encoding="utf-8"?>
<p:tagLst xmlns:p="http://schemas.openxmlformats.org/presentationml/2006/main">
  <p:tag name="KSO_WM_DIAGRAM_VIRTUALLY_FRAME" val="{&quot;height&quot;:242.6,&quot;left&quot;:55.2,&quot;top&quot;:118.5,&quot;width&quot;:576.1}"/>
</p:tagLst>
</file>

<file path=ppt/tags/tag13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14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15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16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17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18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19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20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21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22.xml><?xml version="1.0" encoding="utf-8"?>
<p:tagLst xmlns:p="http://schemas.openxmlformats.org/presentationml/2006/main">
  <p:tag name="KSO_WM_DIAGRAM_VIRTUALLY_FRAME" val="{&quot;height&quot;:368.45,&quot;left&quot;:55.2,&quot;top&quot;:118.5,&quot;width&quot;:580.35}"/>
</p:tagLst>
</file>

<file path=ppt/tags/tag23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24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25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26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27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28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29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30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31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32.xml><?xml version="1.0" encoding="utf-8"?>
<p:tagLst xmlns:p="http://schemas.openxmlformats.org/presentationml/2006/main">
  <p:tag name="KSO_WM_DIAGRAM_VIRTUALLY_FRAME" val="{&quot;height&quot;:229.2,&quot;left&quot;:65.7,&quot;top&quot;:118.5,&quot;width&quot;:465.8}"/>
</p:tagLst>
</file>

<file path=ppt/tags/tag33.xml><?xml version="1.0" encoding="utf-8"?>
<p:tagLst xmlns:p="http://schemas.openxmlformats.org/presentationml/2006/main">
  <p:tag name="KSO_WPP_MARK_KEY" val="340e9fe4-17e5-4cf0-bd6a-7760516c9768"/>
  <p:tag name="COMMONDATA" val="eyJoZGlkIjoiOWRhYWM5YjJjMWVjM2ZkZDcxMDYyNmRlNGM5YmIwMjYifQ=="/>
  <p:tag name="commondata" val="eyJoZGlkIjoiYTgwY2YwOGE5NGU5ZmU3NmE1ZDk3Njc1OTc3YzI3MTMifQ=="/>
</p:tagLst>
</file>

<file path=ppt/theme/theme1.xml><?xml version="1.0" encoding="utf-8"?>
<a:theme xmlns:a="http://schemas.openxmlformats.org/drawingml/2006/main" name="主题1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659</Words>
  <Application>WPS 演示</Application>
  <PresentationFormat>全屏显示(4:3)</PresentationFormat>
  <Paragraphs>110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Arial Black</vt:lpstr>
      <vt:lpstr>Wingdings</vt:lpstr>
      <vt:lpstr>微软雅黑</vt:lpstr>
      <vt:lpstr>Arial Unicode MS</vt:lpstr>
      <vt:lpstr>Calibri</vt:lpstr>
      <vt:lpstr>主题1</vt:lpstr>
      <vt:lpstr>器件和封装的确定</vt:lpstr>
      <vt:lpstr>放置器件</vt:lpstr>
      <vt:lpstr>放置器件</vt:lpstr>
      <vt:lpstr>放置器件</vt:lpstr>
      <vt:lpstr>放置器件（电阻）</vt:lpstr>
      <vt:lpstr>放置器件（电容）</vt:lpstr>
      <vt:lpstr>放置器件（二三极管）</vt:lpstr>
      <vt:lpstr>放置器件（接插件）</vt:lpstr>
      <vt:lpstr>放置器件（场效应管）</vt:lpstr>
      <vt:lpstr>放置器件（场效应管）</vt:lpstr>
      <vt:lpstr>放置器件（电源芯片）</vt:lpstr>
      <vt:lpstr>放置器件</vt:lpstr>
      <vt:lpstr>放置器件</vt:lpstr>
      <vt:lpstr>放置器件</vt:lpstr>
      <vt:lpstr>放置器件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封装的确定</dc:title>
  <dc:creator>xd jin</dc:creator>
  <cp:lastModifiedBy>李嘉涵</cp:lastModifiedBy>
  <cp:revision>45</cp:revision>
  <dcterms:created xsi:type="dcterms:W3CDTF">2018-07-15T05:49:00Z</dcterms:created>
  <dcterms:modified xsi:type="dcterms:W3CDTF">2026-07-06T02:09:58Z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C8AD2F02ED9C4D7CB3B1F6DA4D4500D8_13</vt:lpwstr>
  </property>
  <property fmtid="{D5CDD505-2E9C-101B-9397-08002B2CF9AE}" pid="3" name="KSOProductBuildVer">
    <vt:lpwstr>2052-12.1.0.23542</vt:lpwstr>
  </property>
</Properties>
</file>