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93" r:id="rId6"/>
    <p:sldId id="294" r:id="rId7"/>
    <p:sldId id="296" r:id="rId8"/>
    <p:sldId id="297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278" r:id="rId19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2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B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 showGuides="1">
      <p:cViewPr varScale="1">
        <p:scale>
          <a:sx n="84" d="100"/>
          <a:sy n="84" d="100"/>
        </p:scale>
        <p:origin x="1392" y="72"/>
      </p:cViewPr>
      <p:guideLst>
        <p:guide orient="horz" pos="2092"/>
        <p:guide pos="287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2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0CD7F4A-47CB-4C22-8008-1C73C610FCC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173379-B140-438E-94E2-49E9236E24A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4D077-2966-42D6-96CD-BF31CF8538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4D077-2966-42D6-96CD-BF31CF8538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4D077-2966-42D6-96CD-BF31CF8538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4D077-2966-42D6-96CD-BF31CF8538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4D077-2966-42D6-96CD-BF31CF8538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4D077-2966-42D6-96CD-BF31CF8538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4D077-2966-42D6-96CD-BF31CF8538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4D077-2966-42D6-96CD-BF31CF8538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4D077-2966-42D6-96CD-BF31CF8538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4D077-2966-42D6-96CD-BF31CF8538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4D077-2966-42D6-96CD-BF31CF8538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4D077-2966-42D6-96CD-BF31CF8538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1" name="图片 2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1750" y="6308725"/>
            <a:ext cx="9110663" cy="577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2" name="Picture 7" descr="C:\Documents and Settings\sqz\桌面\图片1.jpg"/>
          <p:cNvPicPr>
            <a:picLocks noChangeAspect="1"/>
          </p:cNvPicPr>
          <p:nvPr userDrawn="1"/>
        </p:nvPicPr>
        <p:blipFill>
          <a:blip r:embed="rId13"/>
          <a:srcRect l="397" t="671" r="217" b="51665"/>
          <a:stretch>
            <a:fillRect/>
          </a:stretch>
        </p:blipFill>
        <p:spPr>
          <a:xfrm>
            <a:off x="0" y="0"/>
            <a:ext cx="9142413" cy="32893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Grp="1"/>
          </p:cNvSpPr>
          <p:nvPr/>
        </p:nvSpPr>
        <p:spPr>
          <a:xfrm>
            <a:off x="244158" y="2132965"/>
            <a:ext cx="865568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600" b="1">
                <a:solidFill>
                  <a:srgbClr val="0068B7"/>
                </a:solidFill>
              </a:defRPr>
            </a:pPr>
            <a:r>
              <a:rPr sz="4800" b="0">
                <a:solidFill>
                  <a:srgbClr val="0068B7"/>
                </a:solidFill>
                <a:latin typeface="汉仪颜楷W" panose="00020600040101010101" charset="-122"/>
                <a:ea typeface="汉仪颜楷W" panose="00020600040101010101" charset="-122"/>
              </a:rPr>
              <a:t>便携式脉搏测试仪</a:t>
            </a:r>
            <a:endParaRPr sz="4800" b="0">
              <a:solidFill>
                <a:srgbClr val="0068B7"/>
              </a:solidFill>
              <a:latin typeface="汉仪颜楷W" panose="00020600040101010101" charset="-122"/>
              <a:ea typeface="汉仪颜楷W" panose="0002060004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15160" y="3717290"/>
            <a:ext cx="531368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 smtClean="0">
                <a:latin typeface="汉仪颜楷W" panose="00020600040101010101" charset="-122"/>
                <a:ea typeface="汉仪颜楷W" panose="00020600040101010101" charset="-122"/>
                <a:cs typeface="汉仪颜楷W" panose="00020600040101010101" charset="-122"/>
              </a:rPr>
              <a:t>第</a:t>
            </a:r>
            <a:r>
              <a:rPr lang="en-US" altLang="zh-CN" sz="2800" dirty="0" smtClean="0">
                <a:latin typeface="汉仪颜楷W" panose="00020600040101010101" charset="-122"/>
                <a:ea typeface="汉仪颜楷W" panose="00020600040101010101" charset="-122"/>
                <a:cs typeface="汉仪颜楷W" panose="00020600040101010101" charset="-122"/>
              </a:rPr>
              <a:t> </a:t>
            </a:r>
            <a:r>
              <a:rPr lang="zh-CN" altLang="en-US" sz="2800" dirty="0" smtClean="0">
                <a:latin typeface="汉仪颜楷W" panose="00020600040101010101" charset="-122"/>
                <a:ea typeface="汉仪颜楷W" panose="00020600040101010101" charset="-122"/>
                <a:cs typeface="汉仪颜楷W" panose="00020600040101010101" charset="-122"/>
              </a:rPr>
              <a:t>组 </a:t>
            </a:r>
            <a:endParaRPr lang="zh-CN" altLang="en-US" sz="2800" dirty="0" smtClean="0">
              <a:latin typeface="汉仪颜楷W" panose="00020600040101010101" charset="-122"/>
              <a:ea typeface="汉仪颜楷W" panose="00020600040101010101" charset="-122"/>
              <a:cs typeface="汉仪颜楷W" panose="0002060004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文本框 34"/>
          <p:cNvSpPr txBox="1"/>
          <p:nvPr/>
        </p:nvSpPr>
        <p:spPr>
          <a:xfrm>
            <a:off x="3959337" y="620688"/>
            <a:ext cx="936625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5BBB"/>
                </a:solidFill>
                <a:latin typeface="Palatino Linotype" panose="02040502050505030304" pitchFamily="18" charset="0"/>
                <a:ea typeface="微软雅黑" panose="020B0503020204020204" pitchFamily="34" charset="-122"/>
              </a:rPr>
              <a:t>目录</a:t>
            </a:r>
            <a:endParaRPr lang="zh-CN" altLang="en-US" sz="2800" b="1" dirty="0">
              <a:solidFill>
                <a:srgbClr val="005BBB"/>
              </a:solidFill>
              <a:latin typeface="Palatino Linotype" panose="0204050205050503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172" name="文本框 18"/>
          <p:cNvSpPr txBox="1"/>
          <p:nvPr/>
        </p:nvSpPr>
        <p:spPr>
          <a:xfrm>
            <a:off x="2447505" y="1351508"/>
            <a:ext cx="3960288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indent="-457200">
              <a:lnSpc>
                <a:spcPct val="20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电路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0" indent="-457200">
              <a:lnSpc>
                <a:spcPct val="200000"/>
              </a:lnSpc>
              <a:spcBef>
                <a:spcPct val="0"/>
              </a:spcBef>
              <a:buAutoNum type="arabicPeriod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电路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原理图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0" indent="-457200">
              <a:lnSpc>
                <a:spcPct val="200000"/>
              </a:lnSpc>
              <a:spcBef>
                <a:spcPct val="0"/>
              </a:spcBef>
              <a:buAutoNum type="arabicPeriod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电路分析与元器件选择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输入输出接口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规范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小组分工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0" indent="-457200">
              <a:lnSpc>
                <a:spcPct val="200000"/>
              </a:lnSpc>
              <a:spcBef>
                <a:spcPct val="0"/>
              </a:spcBef>
              <a:buAutoNum type="arabicPeriod"/>
            </a:pP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1461" y="834318"/>
            <a:ext cx="9082713" cy="2941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>
                <a:solidFill>
                  <a:srgbClr val="222222"/>
                </a:solidFill>
              </a:defRPr>
            </a:pPr>
            <a:r>
              <a:rPr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电路方案</a:t>
            </a:r>
            <a:endParaRPr sz="2315" b="0">
              <a:solidFill>
                <a:srgbClr val="222222"/>
              </a:solidFill>
              <a:latin typeface="汉仪颜楷W" panose="00020600040101010101" charset="-122"/>
              <a:ea typeface="汉仪颜楷W" panose="00020600040101010101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2543405" y="1274767"/>
            <a:ext cx="4044933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75335" y="1449705"/>
            <a:ext cx="7161530" cy="3276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0">
                <a:solidFill>
                  <a:srgbClr val="222222"/>
                </a:solidFill>
              </a:defRPr>
            </a:pP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根据实验设计要求，可以将电路分为如下图几个部分，即：</a:t>
            </a:r>
            <a:endParaRPr lang="zh-CN" altLang="en-US" sz="1800" b="0" dirty="0" smtClean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97230" y="3717290"/>
            <a:ext cx="7851775" cy="2085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875" b="0">
                <a:solidFill>
                  <a:srgbClr val="222222"/>
                </a:solidFill>
              </a:defRPr>
            </a:pPr>
            <a:r>
              <a:rPr lang="zh-CN" altLang="en-US" sz="1800" b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光电传感部分用红光或红外发光管照射手指，由光电接收管接收透射或反射信号，把脉搏引起的光强变化转换成微弱电信号。</a:t>
            </a:r>
            <a:endParaRPr lang="en-US" altLang="zh-CN" sz="1800" b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875" b="0">
                <a:solidFill>
                  <a:srgbClr val="222222"/>
                </a:solidFill>
              </a:defRPr>
            </a:pPr>
            <a:r>
              <a:rPr lang="zh-CN" altLang="en-US" sz="1800" b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放大滤波部分对该微弱信号进行两级放大，并通过低通滤波抑制环境光、手指抖动和高频噪声，得到较稳定的脉搏波形。</a:t>
            </a:r>
            <a:endParaRPr lang="en-US" altLang="zh-CN" sz="1800" b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875" b="0">
                <a:solidFill>
                  <a:srgbClr val="222222"/>
                </a:solidFill>
              </a:defRPr>
            </a:pPr>
            <a:r>
              <a:rPr lang="zh-CN" altLang="en-US" sz="1800" b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信号调理部分提供</a:t>
            </a:r>
            <a:r>
              <a:rPr lang="en-US" altLang="zh-CN" sz="1800" b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2.5V </a:t>
            </a:r>
            <a:r>
              <a:rPr lang="zh-CN" altLang="en-US" sz="1800" b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中点偏置，并通过比较整形电路把模拟脉搏波转换成数字脉冲，便于</a:t>
            </a:r>
            <a:r>
              <a:rPr lang="en-US" altLang="zh-CN" sz="1800" b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STM32 </a:t>
            </a:r>
            <a:r>
              <a:rPr lang="zh-CN" altLang="en-US" sz="1800" b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判断和计数。</a:t>
            </a:r>
            <a:endParaRPr lang="en-US" altLang="zh-CN" sz="1800" b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875" b="0">
                <a:solidFill>
                  <a:srgbClr val="222222"/>
                </a:solidFill>
              </a:defRPr>
            </a:pPr>
            <a:r>
              <a:rPr lang="zh-CN" altLang="en-US" sz="1800" b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信息处理部分由</a:t>
            </a:r>
            <a:r>
              <a:rPr lang="en-US" altLang="zh-CN" sz="1800" b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STM32 </a:t>
            </a:r>
            <a:r>
              <a:rPr lang="zh-CN" altLang="en-US" sz="1800" b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</a:t>
            </a:r>
            <a:r>
              <a:rPr lang="en-US" altLang="zh-CN" sz="1800" b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ADC </a:t>
            </a:r>
            <a:r>
              <a:rPr lang="zh-CN" altLang="en-US" sz="1800" b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采样、脉冲计数、脉搏次数计算、告警判断和串口</a:t>
            </a:r>
            <a:r>
              <a:rPr lang="en-US" altLang="zh-CN" sz="1800" b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800" b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蓝牙数据传输。</a:t>
            </a:r>
            <a:endParaRPr lang="en-US" altLang="zh-CN" sz="1800" b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875" b="0">
                <a:solidFill>
                  <a:srgbClr val="222222"/>
                </a:solidFill>
              </a:defRPr>
            </a:pPr>
            <a:r>
              <a:rPr lang="zh-CN" altLang="en-US" sz="1800" b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显示部分采用</a:t>
            </a:r>
            <a:r>
              <a:rPr lang="en-US" altLang="zh-CN" sz="1800" b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OLED </a:t>
            </a:r>
            <a:r>
              <a:rPr lang="zh-CN" altLang="en-US" sz="1800" b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显示测得的每分钟脉搏次数和工作状态，超出设定范围时通过蜂鸣器进行告警。</a:t>
            </a:r>
            <a:endParaRPr lang="zh-CN" altLang="en-US" sz="1800" b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030" y="1777365"/>
            <a:ext cx="5107940" cy="197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643" y="0"/>
            <a:ext cx="9082713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30643" y="834318"/>
            <a:ext cx="9082713" cy="2941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>
                <a:solidFill>
                  <a:srgbClr val="222222"/>
                </a:solidFill>
              </a:defRPr>
            </a:pPr>
            <a:r>
              <a:rPr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电路原理图</a:t>
            </a:r>
            <a:endParaRPr sz="2315" b="0">
              <a:solidFill>
                <a:srgbClr val="222222"/>
              </a:solidFill>
              <a:latin typeface="汉仪颜楷W" panose="00020600040101010101" charset="-122"/>
              <a:ea typeface="汉仪颜楷W" panose="00020600040101010101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2543405" y="1274767"/>
            <a:ext cx="4044933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sp>
      <p:pic>
        <p:nvPicPr>
          <p:cNvPr id="4" name="图片 3" descr="电路图_01"/>
          <p:cNvPicPr>
            <a:picLocks noChangeAspect="1"/>
          </p:cNvPicPr>
          <p:nvPr/>
        </p:nvPicPr>
        <p:blipFill>
          <a:blip r:embed="rId2"/>
          <a:srcRect l="4588" t="5705" r="3081" b="28666"/>
          <a:stretch>
            <a:fillRect/>
          </a:stretch>
        </p:blipFill>
        <p:spPr>
          <a:xfrm>
            <a:off x="31461" y="1540752"/>
            <a:ext cx="9081487" cy="46165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3" y="0"/>
            <a:ext cx="9082713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30643" y="834318"/>
            <a:ext cx="9082713" cy="2941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>
                <a:solidFill>
                  <a:srgbClr val="222222"/>
                </a:solidFill>
              </a:defRPr>
            </a:pPr>
            <a:r>
              <a:rPr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电路</a:t>
            </a:r>
            <a:r>
              <a:rPr lang="zh-CN"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分析与元器件选择</a:t>
            </a:r>
            <a:endParaRPr lang="zh-CN" sz="2315" b="0">
              <a:solidFill>
                <a:srgbClr val="222222"/>
              </a:solidFill>
              <a:latin typeface="汉仪颜楷W" panose="00020600040101010101" charset="-122"/>
              <a:ea typeface="汉仪颜楷W" panose="00020600040101010101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2543405" y="1274767"/>
            <a:ext cx="4044933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sp>
      <p:pic>
        <p:nvPicPr>
          <p:cNvPr id="4" name="图片 3" descr="电路图_01"/>
          <p:cNvPicPr>
            <a:picLocks noChangeAspect="1"/>
          </p:cNvPicPr>
          <p:nvPr/>
        </p:nvPicPr>
        <p:blipFill>
          <a:blip r:embed="rId2"/>
          <a:srcRect l="4588" t="24250" r="84399" b="61309"/>
          <a:stretch>
            <a:fillRect/>
          </a:stretch>
        </p:blipFill>
        <p:spPr>
          <a:xfrm>
            <a:off x="1187450" y="2355215"/>
            <a:ext cx="2216150" cy="20739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355465" y="2099945"/>
            <a:ext cx="369824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电源与光电传感器：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电源采用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STM32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板的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5V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单电源供电。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使用三脚排针和杜邦线与光电传感器相连，将输入电压信号引到电路板上。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643" y="0"/>
            <a:ext cx="9082713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30643" y="834318"/>
            <a:ext cx="9082713" cy="2941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>
                <a:solidFill>
                  <a:srgbClr val="222222"/>
                </a:solidFill>
              </a:defRPr>
            </a:pPr>
            <a:r>
              <a:rPr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电路</a:t>
            </a:r>
            <a:r>
              <a:rPr lang="zh-CN"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分析与元器件选择</a:t>
            </a:r>
            <a:endParaRPr lang="zh-CN" sz="2315" b="0">
              <a:solidFill>
                <a:srgbClr val="222222"/>
              </a:solidFill>
              <a:latin typeface="汉仪颜楷W" panose="00020600040101010101" charset="-122"/>
              <a:ea typeface="汉仪颜楷W" panose="00020600040101010101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2543405" y="1274767"/>
            <a:ext cx="4044933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sp>
      <p:pic>
        <p:nvPicPr>
          <p:cNvPr id="4" name="图片 3" descr="电路图_01"/>
          <p:cNvPicPr>
            <a:picLocks noChangeAspect="1"/>
          </p:cNvPicPr>
          <p:nvPr/>
        </p:nvPicPr>
        <p:blipFill>
          <a:blip r:embed="rId2"/>
          <a:srcRect l="12386" t="10029" r="69015" b="61309"/>
          <a:stretch>
            <a:fillRect/>
          </a:stretch>
        </p:blipFill>
        <p:spPr>
          <a:xfrm>
            <a:off x="611505" y="1844675"/>
            <a:ext cx="2910205" cy="32067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774440" y="1557020"/>
            <a:ext cx="5009515" cy="3830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第一级低通滤波放大器：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光电接收管输出的信号幅值较小，先通过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C1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隔直后送入一级运放放大。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R5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决定放大倍数（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倍），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与反馈电阻构成低通滤波，用于抑制高频噪声，得到初步放大的脉搏波形。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所用器件为电容、电阻以及双运算放大器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LM358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。各元件值如图中所示。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LM358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而不是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LM324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是为了在电路板上出现两个芯片，从而使电路分区明确，而不会拥挤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643" y="0"/>
            <a:ext cx="9082713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30643" y="834318"/>
            <a:ext cx="9082713" cy="2941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>
                <a:solidFill>
                  <a:srgbClr val="222222"/>
                </a:solidFill>
              </a:defRPr>
            </a:pPr>
            <a:r>
              <a:rPr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电路</a:t>
            </a:r>
            <a:r>
              <a:rPr lang="zh-CN"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分析与元器件选择</a:t>
            </a:r>
            <a:endParaRPr lang="zh-CN" sz="2315" b="0">
              <a:solidFill>
                <a:srgbClr val="222222"/>
              </a:solidFill>
              <a:latin typeface="汉仪颜楷W" panose="00020600040101010101" charset="-122"/>
              <a:ea typeface="汉仪颜楷W" panose="00020600040101010101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2543405" y="1274767"/>
            <a:ext cx="4044933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sp>
      <p:pic>
        <p:nvPicPr>
          <p:cNvPr id="4" name="图片 3" descr="电路图_01"/>
          <p:cNvPicPr>
            <a:picLocks noChangeAspect="1"/>
          </p:cNvPicPr>
          <p:nvPr/>
        </p:nvPicPr>
        <p:blipFill>
          <a:blip r:embed="rId2"/>
          <a:srcRect l="30794" t="10029" r="52640" b="63579"/>
          <a:stretch>
            <a:fillRect/>
          </a:stretch>
        </p:blipFill>
        <p:spPr>
          <a:xfrm>
            <a:off x="899795" y="1917065"/>
            <a:ext cx="2592070" cy="29527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23665" y="1917065"/>
            <a:ext cx="487680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第二级低通滤波放大器：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一级输出的脉搏信号继续进入二级放大滤波电路。该部分进一步提高信号幅值，并通过低通滤波滤除手指抖动、环境干扰和高频噪声，使脉搏波形更加平滑稳定。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 eaLnBrk="1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所需元件与上一级类似。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 eaLnBrk="1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此处运放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U1.2 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脚的输出为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端口输出，为模拟脉搏波形。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643" y="0"/>
            <a:ext cx="9082713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30643" y="834318"/>
            <a:ext cx="9082713" cy="2941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>
                <a:solidFill>
                  <a:srgbClr val="222222"/>
                </a:solidFill>
              </a:defRPr>
            </a:pPr>
            <a:r>
              <a:rPr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电路</a:t>
            </a:r>
            <a:r>
              <a:rPr lang="zh-CN"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分析与元器件选择</a:t>
            </a:r>
            <a:endParaRPr lang="zh-CN" sz="2315" b="0">
              <a:solidFill>
                <a:srgbClr val="222222"/>
              </a:solidFill>
              <a:latin typeface="汉仪颜楷W" panose="00020600040101010101" charset="-122"/>
              <a:ea typeface="汉仪颜楷W" panose="00020600040101010101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2543405" y="1274767"/>
            <a:ext cx="4044933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sp>
      <p:pic>
        <p:nvPicPr>
          <p:cNvPr id="4" name="图片 3" descr="电路图_01"/>
          <p:cNvPicPr>
            <a:picLocks noChangeAspect="1"/>
          </p:cNvPicPr>
          <p:nvPr/>
        </p:nvPicPr>
        <p:blipFill>
          <a:blip r:embed="rId2"/>
          <a:srcRect l="11002" t="38350" r="69015" b="42341"/>
          <a:stretch>
            <a:fillRect/>
          </a:stretch>
        </p:blipFill>
        <p:spPr>
          <a:xfrm>
            <a:off x="755015" y="2277110"/>
            <a:ext cx="3126740" cy="21602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211955" y="1772920"/>
            <a:ext cx="4572000" cy="3830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2.5V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偏置电路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由于电路采用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5V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单电源供电，运放不能处理负电压信号，因此使用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R15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R16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分压得到约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2.5V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，再经过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U2.1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电压跟随缓冲，形成稳定的中点偏置电压，供后级放大滤波电路使用。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所用器件为电容、电阻以及双运算放大器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LM358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。各元件值如图中所示。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643" y="0"/>
            <a:ext cx="9082713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30643" y="834318"/>
            <a:ext cx="9082713" cy="2941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>
                <a:solidFill>
                  <a:srgbClr val="222222"/>
                </a:solidFill>
              </a:defRPr>
            </a:pPr>
            <a:r>
              <a:rPr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电路</a:t>
            </a:r>
            <a:r>
              <a:rPr lang="zh-CN"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分析与元器件选择</a:t>
            </a:r>
            <a:endParaRPr lang="zh-CN" sz="2315" b="0">
              <a:solidFill>
                <a:srgbClr val="222222"/>
              </a:solidFill>
              <a:latin typeface="汉仪颜楷W" panose="00020600040101010101" charset="-122"/>
              <a:ea typeface="汉仪颜楷W" panose="00020600040101010101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2543405" y="1274767"/>
            <a:ext cx="4044933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sp>
      <p:pic>
        <p:nvPicPr>
          <p:cNvPr id="4" name="图片 3" descr="电路图_01"/>
          <p:cNvPicPr>
            <a:picLocks noChangeAspect="1"/>
          </p:cNvPicPr>
          <p:nvPr/>
        </p:nvPicPr>
        <p:blipFill>
          <a:blip r:embed="rId2"/>
          <a:srcRect l="42295" t="24831" r="33432" b="40655"/>
          <a:stretch>
            <a:fillRect/>
          </a:stretch>
        </p:blipFill>
        <p:spPr>
          <a:xfrm>
            <a:off x="251460" y="1772920"/>
            <a:ext cx="4071620" cy="41408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572000" y="1917065"/>
            <a:ext cx="4467225" cy="3830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信号整形电路：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放大滤波后的模拟脉搏波送入比较整形电路。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VR1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用于调节比较阈值，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U2.2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将模拟波形转换为数字脉冲信号，便于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STM32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计数。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R19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构成分压保护，使进入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STM32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的电压不超过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3.3V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此处运放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U2.2 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脚的输出为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端口输出，为整形脉冲。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643" y="0"/>
            <a:ext cx="9082713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30643" y="834318"/>
            <a:ext cx="9082713" cy="2941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>
                <a:solidFill>
                  <a:srgbClr val="222222"/>
                </a:solidFill>
              </a:defRPr>
            </a:pPr>
            <a:r>
              <a:rPr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电路</a:t>
            </a:r>
            <a:r>
              <a:rPr lang="zh-CN"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分析与元器件选择</a:t>
            </a:r>
            <a:endParaRPr lang="zh-CN" sz="2315" b="0">
              <a:solidFill>
                <a:srgbClr val="222222"/>
              </a:solidFill>
              <a:latin typeface="汉仪颜楷W" panose="00020600040101010101" charset="-122"/>
              <a:ea typeface="汉仪颜楷W" panose="00020600040101010101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2543405" y="1274767"/>
            <a:ext cx="4044933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sp>
      <p:pic>
        <p:nvPicPr>
          <p:cNvPr id="4" name="图片 3" descr="电路图_01"/>
          <p:cNvPicPr>
            <a:picLocks noChangeAspect="1"/>
          </p:cNvPicPr>
          <p:nvPr/>
        </p:nvPicPr>
        <p:blipFill>
          <a:blip r:embed="rId2"/>
          <a:srcRect l="65478" t="23031" r="11775" b="40655"/>
          <a:stretch>
            <a:fillRect/>
          </a:stretch>
        </p:blipFill>
        <p:spPr>
          <a:xfrm>
            <a:off x="107315" y="1628775"/>
            <a:ext cx="3815715" cy="4356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572000" y="1917065"/>
            <a:ext cx="446722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STM32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STM32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负责采集和处理脉搏信号。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接收模拟脉搏波形用于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ADC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采样，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PB1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接收整形后的数字脉冲用于脉搏计数，软件计算每分钟脉搏次数，并控制显示、告警和通信功能。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643" y="0"/>
            <a:ext cx="9082713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30643" y="834318"/>
            <a:ext cx="9082713" cy="2941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>
                <a:solidFill>
                  <a:srgbClr val="222222"/>
                </a:solidFill>
              </a:defRPr>
            </a:pPr>
            <a:r>
              <a:rPr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电路</a:t>
            </a:r>
            <a:r>
              <a:rPr lang="zh-CN"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分析与元器件选择</a:t>
            </a:r>
            <a:endParaRPr lang="zh-CN" sz="2315" b="0">
              <a:solidFill>
                <a:srgbClr val="222222"/>
              </a:solidFill>
              <a:latin typeface="汉仪颜楷W" panose="00020600040101010101" charset="-122"/>
              <a:ea typeface="汉仪颜楷W" panose="00020600040101010101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2543405" y="1274767"/>
            <a:ext cx="4044933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sp>
      <p:pic>
        <p:nvPicPr>
          <p:cNvPr id="4" name="图片 3" descr="电路图_01"/>
          <p:cNvPicPr>
            <a:picLocks noChangeAspect="1"/>
          </p:cNvPicPr>
          <p:nvPr/>
        </p:nvPicPr>
        <p:blipFill>
          <a:blip r:embed="rId2"/>
          <a:srcRect l="62900" t="4427" r="21648" b="75772"/>
          <a:stretch>
            <a:fillRect/>
          </a:stretch>
        </p:blipFill>
        <p:spPr>
          <a:xfrm>
            <a:off x="899160" y="1772920"/>
            <a:ext cx="2592070" cy="2375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211955" y="1772920"/>
            <a:ext cx="446722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蜂鸣器告警电路：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STM32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PB0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脚的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BEEP_CTRL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控制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S8050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三极管导通或截止，从而驱动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5V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有源蜂鸣器。当测得脉搏次数超过设定上下限时，蜂鸣器发出告警提示。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器件选择为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S8050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三极管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Q1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5V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有源蜂鸣器，</a:t>
            </a: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电阻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643" y="0"/>
            <a:ext cx="9082713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30643" y="834318"/>
            <a:ext cx="9082713" cy="2941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>
                <a:solidFill>
                  <a:srgbClr val="222222"/>
                </a:solidFill>
              </a:defRPr>
            </a:pPr>
            <a:r>
              <a:rPr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电路</a:t>
            </a:r>
            <a:r>
              <a:rPr lang="zh-CN"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分析与元器件选择</a:t>
            </a:r>
            <a:endParaRPr lang="zh-CN" sz="2315" b="0">
              <a:solidFill>
                <a:srgbClr val="222222"/>
              </a:solidFill>
              <a:latin typeface="汉仪颜楷W" panose="00020600040101010101" charset="-122"/>
              <a:ea typeface="汉仪颜楷W" panose="00020600040101010101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2543405" y="1274767"/>
            <a:ext cx="4044933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sp>
      <p:pic>
        <p:nvPicPr>
          <p:cNvPr id="4" name="图片 3" descr="电路图_01"/>
          <p:cNvPicPr>
            <a:picLocks noChangeAspect="1"/>
          </p:cNvPicPr>
          <p:nvPr/>
        </p:nvPicPr>
        <p:blipFill>
          <a:blip r:embed="rId2"/>
          <a:srcRect l="66333" t="57964" r="20788" b="30154"/>
          <a:stretch>
            <a:fillRect/>
          </a:stretch>
        </p:blipFill>
        <p:spPr>
          <a:xfrm>
            <a:off x="1259205" y="2100580"/>
            <a:ext cx="2160270" cy="14255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95420" y="1596390"/>
            <a:ext cx="4467225" cy="2232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蓝牙串口电路：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蓝牙模块连接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PB10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PB11</a:t>
            </a: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脚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STM32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通信，实现无线数据传输。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STM32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可将脉搏波形和脉搏次数发送到手机串口助手，方便移动端查看测量结果。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 descr="电路图_01"/>
          <p:cNvPicPr>
            <a:picLocks noChangeAspect="1"/>
          </p:cNvPicPr>
          <p:nvPr/>
        </p:nvPicPr>
        <p:blipFill>
          <a:blip r:embed="rId2"/>
          <a:srcRect l="88226" t="38757" r="4903" b="47440"/>
          <a:stretch>
            <a:fillRect/>
          </a:stretch>
        </p:blipFill>
        <p:spPr>
          <a:xfrm>
            <a:off x="1546860" y="4260850"/>
            <a:ext cx="1152525" cy="16560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95420" y="4116705"/>
            <a:ext cx="4467225" cy="2232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USB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串口通信电路：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USB-TTL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串口模块接口与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STM32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PA9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作为发送端，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PA10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作为接收端。该接口用于将脉搏波形数据和心率数据发送到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PC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串口助手，便于后续记录和分析。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643" y="0"/>
            <a:ext cx="9082713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30643" y="834318"/>
            <a:ext cx="9082713" cy="2941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>
                <a:solidFill>
                  <a:srgbClr val="222222"/>
                </a:solidFill>
              </a:defRPr>
            </a:pPr>
            <a:r>
              <a:rPr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电路</a:t>
            </a:r>
            <a:r>
              <a:rPr lang="zh-CN"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分析与元器件选择</a:t>
            </a:r>
            <a:endParaRPr lang="zh-CN" sz="2315" b="0">
              <a:solidFill>
                <a:srgbClr val="222222"/>
              </a:solidFill>
              <a:latin typeface="汉仪颜楷W" panose="00020600040101010101" charset="-122"/>
              <a:ea typeface="汉仪颜楷W" panose="00020600040101010101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2543405" y="1274767"/>
            <a:ext cx="4044933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sp>
      <p:pic>
        <p:nvPicPr>
          <p:cNvPr id="4" name="图片 3" descr="电路图_01"/>
          <p:cNvPicPr>
            <a:picLocks noChangeAspect="1"/>
          </p:cNvPicPr>
          <p:nvPr/>
        </p:nvPicPr>
        <p:blipFill>
          <a:blip r:embed="rId2"/>
          <a:srcRect l="84792" t="57964" r="3616" b="28561"/>
          <a:stretch>
            <a:fillRect/>
          </a:stretch>
        </p:blipFill>
        <p:spPr>
          <a:xfrm>
            <a:off x="1115060" y="2820035"/>
            <a:ext cx="1944370" cy="16167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95420" y="2204720"/>
            <a:ext cx="4467225" cy="2595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OLED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显示电路：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OLED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I2C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STM32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连接，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PB6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SCL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PB7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SDA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。显示屏用于实时显示当前脉搏次数、测量状态以及告警信息。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器件选择为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0.96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寸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I2C OLED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显示屏。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643" y="0"/>
            <a:ext cx="9082713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35088" y="764468"/>
            <a:ext cx="9082713" cy="2941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>
                <a:solidFill>
                  <a:srgbClr val="222222"/>
                </a:solidFill>
              </a:defRPr>
            </a:pPr>
            <a:r>
              <a:rPr lang="zh-CN" altLang="en-US"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输入输出接口信号规范</a:t>
            </a:r>
            <a:endParaRPr lang="zh-CN" altLang="en-US" sz="2315" b="0">
              <a:solidFill>
                <a:srgbClr val="222222"/>
              </a:solidFill>
              <a:latin typeface="汉仪颜楷W" panose="00020600040101010101" charset="-122"/>
              <a:ea typeface="汉仪颜楷W" panose="00020600040101010101" charset="-122"/>
            </a:endParaRPr>
          </a:p>
          <a:p>
            <a:pPr algn="ctr">
              <a:defRPr sz="2325" b="1">
                <a:solidFill>
                  <a:srgbClr val="222222"/>
                </a:solidFill>
              </a:defRPr>
            </a:pPr>
            <a:endParaRPr lang="zh-CN" altLang="en-US" sz="2315" b="0">
              <a:solidFill>
                <a:srgbClr val="222222"/>
              </a:solidFill>
              <a:latin typeface="汉仪颜楷W" panose="00020600040101010101" charset="-122"/>
              <a:ea typeface="汉仪颜楷W" panose="00020600040101010101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2547850" y="1204917"/>
            <a:ext cx="4044933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8" name="文本框 7"/>
          <p:cNvSpPr txBox="1"/>
          <p:nvPr/>
        </p:nvSpPr>
        <p:spPr>
          <a:xfrm>
            <a:off x="471805" y="1351915"/>
            <a:ext cx="8412480" cy="4866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just">
              <a:lnSpc>
                <a:spcPts val="266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电源：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5V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单电源，利用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STM32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板的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5V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端口实现。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ts val="266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U1.2 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脚的输出为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端口输出，为模拟脉搏波形，输入到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ts val="266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U2.2 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脚的输出为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端口输出，为整形脉冲，输入到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PB1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ts val="266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PB0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蜂鸣器控制输出，用作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BEEP_CTRL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控制信号。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ts val="266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PB10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PB11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为蓝牙串口接口，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PB10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USART3_TX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，与蓝牙模块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接口相连，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PB11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USART3_RX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，与蓝牙模块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接口相连。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ts val="266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PA9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PA10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USB-TTL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串口接口，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PA9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USART1_TX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USB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RXD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接口相连，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PA10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USART1_RX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USB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接口相连。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ts val="266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PB6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PB7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OLED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显示接口，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PB6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I2C_SCL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OLED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SCL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接口相连，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PB7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I2C_SDA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OLED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SDA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接口相连。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ts val="266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STM32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输入输出电平规范：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STM32F103C8T6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I/O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口工作电平为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3.3V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输入信号高电平一般应接近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3.3V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，低电平接近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0V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。由于模拟前端和比较器部分采用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5V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供电，因此送入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STM32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的信号需要经过分压或限流保护，避免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5V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信号直接进入单片机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I/O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口。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643" y="0"/>
            <a:ext cx="9082713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30643" y="834318"/>
            <a:ext cx="9082713" cy="2941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>
                <a:solidFill>
                  <a:srgbClr val="222222"/>
                </a:solidFill>
              </a:defRPr>
            </a:pPr>
            <a:r>
              <a:rPr lang="zh-CN" sz="2315" b="0">
                <a:solidFill>
                  <a:srgbClr val="222222"/>
                </a:solidFill>
                <a:latin typeface="汉仪颜楷W" panose="00020600040101010101" charset="-122"/>
                <a:ea typeface="汉仪颜楷W" panose="00020600040101010101" charset="-122"/>
              </a:rPr>
              <a:t>小组分工</a:t>
            </a:r>
            <a:endParaRPr lang="zh-CN" sz="2315" b="0">
              <a:solidFill>
                <a:srgbClr val="222222"/>
              </a:solidFill>
              <a:latin typeface="汉仪颜楷W" panose="00020600040101010101" charset="-122"/>
              <a:ea typeface="汉仪颜楷W" panose="00020600040101010101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2543405" y="1274767"/>
            <a:ext cx="4044933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5" name="文本框 4"/>
          <p:cNvSpPr txBox="1"/>
          <p:nvPr/>
        </p:nvSpPr>
        <p:spPr>
          <a:xfrm>
            <a:off x="1240790" y="1772920"/>
            <a:ext cx="6879590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：电路设计与绘制、开题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PPT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、开题答辩、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PCB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绘制、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代码撰写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、软硬件调试、结题报告撰写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电路设计与绘制、开题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PPT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、开题答辩、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PCB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绘制、电路搭建、软硬件调试、结题报告撰写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矩形 1"/>
          <p:cNvSpPr/>
          <p:nvPr/>
        </p:nvSpPr>
        <p:spPr>
          <a:xfrm>
            <a:off x="755650" y="1052513"/>
            <a:ext cx="7750175" cy="465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>
              <a:lnSpc>
                <a:spcPct val="150000"/>
              </a:lnSpc>
              <a:spcBef>
                <a:spcPct val="0"/>
              </a:spcBef>
              <a:buNone/>
            </a:pPr>
            <a:endParaRPr lang="zh-CN" altLang="zh-CN" sz="1800" dirty="0">
              <a:latin typeface="Palatino Linotype" panose="02040502050505030304" pitchFamily="18" charset="0"/>
            </a:endParaRPr>
          </a:p>
        </p:txBody>
      </p:sp>
      <p:sp>
        <p:nvSpPr>
          <p:cNvPr id="26627" name="文本框 34"/>
          <p:cNvSpPr txBox="1"/>
          <p:nvPr/>
        </p:nvSpPr>
        <p:spPr>
          <a:xfrm>
            <a:off x="1763713" y="2349500"/>
            <a:ext cx="5832475" cy="768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4000" dirty="0" smtClean="0">
                <a:latin typeface="汉仪颜楷W" panose="00020600040101010101" charset="-122"/>
                <a:ea typeface="汉仪颜楷W" panose="00020600040101010101" charset="-122"/>
              </a:rPr>
              <a:t>恳请老师</a:t>
            </a:r>
            <a:r>
              <a:rPr lang="zh-CN" altLang="en-US" sz="4000" dirty="0">
                <a:latin typeface="汉仪颜楷W" panose="00020600040101010101" charset="-122"/>
                <a:ea typeface="汉仪颜楷W" panose="00020600040101010101" charset="-122"/>
              </a:rPr>
              <a:t>批评指正</a:t>
            </a:r>
            <a:r>
              <a:rPr lang="zh-CN" altLang="en-US" sz="4400" dirty="0">
                <a:latin typeface="汉仪颜楷W" panose="00020600040101010101" charset="-122"/>
                <a:ea typeface="汉仪颜楷W" panose="00020600040101010101" charset="-122"/>
              </a:rPr>
              <a:t>！</a:t>
            </a:r>
            <a:endParaRPr lang="zh-CN" altLang="en-US" sz="4400" dirty="0">
              <a:latin typeface="汉仪颜楷W" panose="00020600040101010101" charset="-122"/>
              <a:ea typeface="汉仪颜楷W" panose="00020600040101010101" charset="-122"/>
            </a:endParaRPr>
          </a:p>
        </p:txBody>
      </p:sp>
      <p:sp>
        <p:nvSpPr>
          <p:cNvPr id="26628" name="文本框 34"/>
          <p:cNvSpPr txBox="1"/>
          <p:nvPr/>
        </p:nvSpPr>
        <p:spPr>
          <a:xfrm>
            <a:off x="3311526" y="3429000"/>
            <a:ext cx="273685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4000" b="1" dirty="0">
                <a:latin typeface="Palatino Linotype" panose="02040502050505030304" pitchFamily="18" charset="0"/>
                <a:ea typeface="微软雅黑" panose="020B0503020204020204" pitchFamily="34" charset="-122"/>
              </a:rPr>
              <a:t>Thanks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2198</Words>
  <Application>WPS 演示</Application>
  <PresentationFormat>全屏显示(4:3)</PresentationFormat>
  <Paragraphs>110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汉仪颜楷W</vt:lpstr>
      <vt:lpstr>Palatino Linotype</vt:lpstr>
      <vt:lpstr>微软雅黑</vt:lpstr>
      <vt:lpstr>Arial Unicode MS</vt:lpstr>
      <vt:lpstr>等线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lijiahan</dc:creator>
  <cp:lastModifiedBy>李嘉涵</cp:lastModifiedBy>
  <cp:revision>247</cp:revision>
  <dcterms:created xsi:type="dcterms:W3CDTF">2009-10-13T03:30:00Z</dcterms:created>
  <dcterms:modified xsi:type="dcterms:W3CDTF">2026-09-15T12:18:49Z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1F1B550503F6424AAC501155E208B58A</vt:lpwstr>
  </property>
  <property fmtid="{D5CDD505-2E9C-101B-9397-08002B2CF9AE}" pid="3" name="KSOProductBuildVer">
    <vt:lpwstr>2052-12.1.0.28043</vt:lpwstr>
  </property>
</Properties>
</file>